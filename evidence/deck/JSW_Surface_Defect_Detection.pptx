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mill, not the model.</a:t>
            </a:r>
          </a:p>
          <a:p/>
          <a:p>
            <a:r>
              <a:t>The one sourced sentence that carries this slide is the Ternium quote: a vendor and a mill both</a:t>
            </a:r>
          </a:p>
          <a:p>
            <a:r>
              <a:t>saying, in public, that human inspection cannot cover a strip moving at 300 m/min. That is the</a:t>
            </a:r>
          </a:p>
          <a:p>
            <a:r>
              <a:t>Pickling Line Tandem Cold Mill at Ternium Pesqueria, five stands, six-high, 6,000 tonnes a day,</a:t>
            </a:r>
          </a:p>
          <a:p>
            <a:r>
              <a:t>four cameras installed just after pickling. Their business case was not cosmetics -- it was strip</a:t>
            </a:r>
          </a:p>
          <a:p>
            <a:r>
              <a:t>breakages damaging mill equipment, and the system was wired to the PLC to slow the mill before the</a:t>
            </a:r>
          </a:p>
          <a:p>
            <a:r>
              <a:t>first bite. That is the shape of the system we are proposing.</a:t>
            </a:r>
          </a:p>
          <a:p/>
          <a:p>
            <a:r>
              <a:t>On the stainless angle: nickel at 8-10% of 304 by mass at INR 1,500-2,000/kg is the reason yield</a:t>
            </a:r>
          </a:p>
          <a:p>
            <a:r>
              <a:t>loss hurts more here than on commodity carbon steel. The input prices are sourced (trade listings,</a:t>
            </a:r>
          </a:p>
          <a:p>
            <a:r>
              <a:t>[SECONDARY] in research_notes s4a); the multiple versus HRC is my own estimate and is flagged as</a:t>
            </a:r>
          </a:p>
          <a:p>
            <a:r>
              <a:t>such -- do not quote a number for it.</a:t>
            </a:r>
          </a:p>
          <a:p/>
          <a:p>
            <a:r>
              <a:t>The COPQ range 5-35%, average about 15%, is IISE and is directly sourced. The commonly quoted</a:t>
            </a:r>
          </a:p>
          <a:p>
            <a:r>
              <a:t>"ASQ says 15-20% of sales" is everywhere but I could not verify it on asq.org, so it is not on the</a:t>
            </a:r>
          </a:p>
          <a:p>
            <a:r>
              <a:t>slide. The "up to 60% of defects originate in the slab" line is ISRA VISION's own marketing and is</a:t>
            </a:r>
          </a:p>
          <a:p>
            <a:r>
              <a:t>labelled a vendor claim on the slide. Do not upgrade it in the room.</a:t>
            </a:r>
          </a:p>
          <a:p/>
          <a:p>
            <a:r>
              <a:t>The objectives table: every "measured" column is a number from a report file in this repository, and</a:t>
            </a:r>
          </a:p>
          <a:p>
            <a:r>
              <a:t>each was reproduced from a clean run. The one to be careful about is the false-alarm row -- it is</a:t>
            </a:r>
          </a:p>
          <a:p>
            <a:r>
              <a:t>"&lt;= 23.7%", not "23.7%", and slide 3 explains why. If someone asks why the targets look modest:</a:t>
            </a:r>
          </a:p>
          <a:p>
            <a:r>
              <a:t>0.70 mAP50 is the bottom of the credible published band for this dataset, and a 90% detection floor</a:t>
            </a:r>
          </a:p>
          <a:p>
            <a:r>
              <a:t>is what a line would actually accept. Setting a target of 0.95 would tell a reader who knows</a:t>
            </a:r>
          </a:p>
          <a:p>
            <a:r>
              <a:t>NEU-DET that we do not.</a:t>
            </a:r>
          </a:p>
          <a:p/>
          <a:p>
            <a:r>
              <a:t>The six images are real held-out test frames with their ground-truth boxes. The point of the caption</a:t>
            </a:r>
          </a:p>
          <a:p>
            <a:r>
              <a:t>row is that each family points at a different upstream owner: crazing at reheat and coiling</a:t>
            </a:r>
          </a:p>
          <a:p>
            <a:r>
              <a:t>temperature, inclusion at the caster, rolled-in scale at descaler pressure. That is why we detect</a:t>
            </a:r>
          </a:p>
          <a:p>
            <a:r>
              <a:t>and classify rather than just alarm -- a classified detection is a work order. The metallurgical</a:t>
            </a:r>
          </a:p>
          <a:p>
            <a:r>
              <a:t>attributions for crazing and patches are reasoned rather than sourced (research_notes s5 flags</a:t>
            </a:r>
          </a:p>
          <a:p>
            <a:r>
              <a:t>both) and need a Jindal metallurgist's sign-off before they go in front of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diagram is drawn from measured configuration, not from a whiteboard. The camera</a:t>
            </a:r>
          </a:p>
          <a:p>
            <a:r>
              <a:t>geometry, the 64 tiles per frame at 320 px and the 20% tile overlap all come out of</a:t>
            </a:r>
          </a:p>
          <a:p>
            <a:r>
              <a:t>reports/benchmark.json mill.geometry. The model line comes from model_study.json, the operating</a:t>
            </a:r>
          </a:p>
          <a:p>
            <a:r>
              <a:t>point from operating_point.json, the export claim from export_summary.json.</a:t>
            </a:r>
          </a:p>
          <a:p/>
          <a:p>
            <a:r>
              <a:t>Two boxes are labelled "proposed" and must be read that way: the unsupervised anomaly channel and</a:t>
            </a:r>
          </a:p>
          <a:p>
            <a:r>
              <a:t>the closed loop. Neither is built. They are on the diagram because a real installation runs an</a:t>
            </a:r>
          </a:p>
          <a:p>
            <a:r>
              <a:t>unclassified-defect bucket -- the Ternium case study says so explicitly -- and because a detector</a:t>
            </a:r>
          </a:p>
          <a:p>
            <a:r>
              <a:t>that is never retrained will drift. The one number inside the closed-loop box that IS measured is</a:t>
            </a:r>
          </a:p>
          <a:p>
            <a:r>
              <a:t>the 0.6 h per-line fine-tune: 15.24 s/epoch median at 320 px over 135 epochs, from</a:t>
            </a:r>
          </a:p>
          <a:p>
            <a:r>
              <a:t>models/yolov8n_neudet/results.csv.</a:t>
            </a:r>
          </a:p>
          <a:p/>
          <a:p>
            <a:r>
              <a:t>The methodology list is the part a technical judge will probe. The order matters. Split first, so</a:t>
            </a:r>
          </a:p>
          <a:p>
            <a:r>
              <a:t>nothing downstream can leak. Two capacities on one recipe, so the comparison is the one a</a:t>
            </a:r>
          </a:p>
          <a:p>
            <a:r>
              <a:t>deployment actually faces. Inference size and TTA chosen on validation only. Threshold chosen on</a:t>
            </a:r>
          </a:p>
          <a:p>
            <a:r>
              <a:t>validation. Test scored once. If asked "did you ever look at test before the end" -- the honest</a:t>
            </a:r>
          </a:p>
          <a:p>
            <a:r>
              <a:t>answer is that the nano-versus-small ordering was visible in train_summary before the bootstrap was</a:t>
            </a:r>
          </a:p>
          <a:p>
            <a:r>
              <a:t>designed, so that comparison is not pre-registered. That caveat is in reports/model_study.md and I</a:t>
            </a:r>
          </a:p>
          <a:p>
            <a:r>
              <a:t>will give it if asked.</a:t>
            </a:r>
          </a:p>
          <a:p/>
          <a:p>
            <a:r>
              <a:t>The throughput chart is the strongest engineering argument in the deck. Read the two dots as the</a:t>
            </a:r>
          </a:p>
          <a:p>
            <a:r>
              <a:t>same line inspected two ways. Full optical resolution at 0.2 mm/px means 64 tiles per camera frame;</a:t>
            </a:r>
          </a:p>
          <a:p>
            <a:r>
              <a:t>downscaling to one frame per camera costs one inference but throws away 6.4x the linear resolution,</a:t>
            </a:r>
          </a:p>
          <a:p>
            <a:r>
              <a:t>which changes the smallest detectable defect. At 250 m/min that is 3,064 inferences/s against 48.</a:t>
            </a:r>
          </a:p>
          <a:p>
            <a:r>
              <a:t>Divide by the measured sustained throughput of one M5 GPU and you get about 18 accelerators tiled</a:t>
            </a:r>
          </a:p>
          <a:p>
            <a:r>
              <a:t>against one accelerator serving 15 cameras downscaled.</a:t>
            </a:r>
          </a:p>
          <a:p/>
          <a:p>
            <a:r>
              <a:t>Be careful with the accelerator count. It is ceil(3064 / 179.6) = 18 using the stored sustainable</a:t>
            </a:r>
          </a:p>
          <a:p>
            <a:r>
              <a:t>figure. Across the full observed throughput band, 234-283 f/s peak times a 70% utilisation ceiling,</a:t>
            </a:r>
          </a:p>
          <a:p>
            <a:r>
              <a:t>the honest range is 16 to 19. Say "about 18" and give the band if pressed. Never quote a single FPS</a:t>
            </a:r>
          </a:p>
          <a:p>
            <a:r>
              <a:t>number for this machine -- the same measurement moved by more than a factor of two between sessions.</a:t>
            </a:r>
          </a:p>
          <a:p/>
          <a:p>
            <a:r>
              <a:t>If asked why 320 px is the tiling reference when we ship at 256: 320 was chosen on validation as a</a:t>
            </a:r>
          </a:p>
          <a:p>
            <a:r>
              <a:t>size within 95% of the best, and it is what the capacity model uses. And the accuracy curve behind</a:t>
            </a:r>
          </a:p>
          <a:p>
            <a:r>
              <a:t>it was measured on 200x200 crops; a 320 px tile at 0.2 mm/px covers 64 mm of strip, and nothing in</a:t>
            </a:r>
          </a:p>
          <a:p>
            <a:r>
              <a:t>this project measures whether accuracy transfers across that change of magnification. That caveat</a:t>
            </a:r>
          </a:p>
          <a:p>
            <a:r>
              <a:t>is in benchmark.json accuracy_note.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carries two numbers, not one, and the room needs to know which is which. 0.7524 is the</a:t>
            </a:r>
          </a:p>
          <a:p>
            <a:r>
              <a:t>shipped yolov8n checkpoint, at 256 px, held-out test, in production today -- reproduces to four</a:t>
            </a:r>
          </a:p>
          <a:p>
            <a:r>
              <a:t>decimals from a single ultralytics val call, I have run it:</a:t>
            </a:r>
          </a:p>
          <a:p>
            <a:r>
              <a:t>.venv/bin/python -c "from ultralytics import YOLO; YOLO('models/yolov8n_neudet/weights/best.pt')</a:t>
            </a:r>
          </a:p>
          <a:p>
            <a:r>
              <a:t>.val(data='data/neu-det/data.yaml', split='test', imgsz=256, device='mps')". 0.7642 is a</a:t>
            </a:r>
          </a:p>
          <a:p>
            <a:r>
              <a:t>second checkpoint, yolov8n_joint, jointly trained on NEU-DET plus real Severstal steel, scored on</a:t>
            </a:r>
          </a:p>
          <a:p>
            <a:r>
              <a:t>the identical 180-image split through a data yaml proven metric-identical to the canonical one</a:t>
            </a:r>
          </a:p>
          <a:p>
            <a:r>
              <a:t>(the warm-started, untrained transplant reproduces the shipped model's metrics to eight significant</a:t>
            </a:r>
          </a:p>
          <a:p>
            <a:r>
              <a:t>figures, so the comparison is apples to apples). Reproduce it with</a:t>
            </a:r>
          </a:p>
          <a:p>
            <a:r>
              <a:t>.venv/bin/python -m src.train_joint crossdomain -- --weights models/yolov8n_joint/weights/best.pt.</a:t>
            </a:r>
          </a:p>
          <a:p>
            <a:r>
              <a:t>It ships ALONGSIDE the shipped model, not in place of it -- resolve_weights() and DEFAULT_IMGSZ are</a:t>
            </a:r>
          </a:p>
          <a:p>
            <a:r>
              <a:t>untouched.</a:t>
            </a:r>
          </a:p>
          <a:p/>
          <a:p>
            <a:r>
              <a:t>Panel A is the one to spend the most time on, because it corrects a claim the previous version of</a:t>
            </a:r>
          </a:p>
          <a:p>
            <a:r>
              <a:t>this deck got wrong: that backbone features transfer unchanged across domains. They do not. On 505</a:t>
            </a:r>
          </a:p>
          <a:p>
            <a:r>
              <a:t>held-out, certified defect-free Severstal frames and 191 masked-defective ones, the shipped model's</a:t>
            </a:r>
          </a:p>
          <a:p>
            <a:r>
              <a:t>cross-domain ROC AUC is 0.608 -- indistinguishable from a coin -- and it flags 93.7% of clean frames</a:t>
            </a:r>
          </a:p>
          <a:p>
            <a:r>
              <a:t>as defective. Joint training on real Severstal positives AND negatives together (not negatives</a:t>
            </a:r>
          </a:p>
          <a:p>
            <a:r>
              <a:t>alone -- section 2 of the report shows that trap: negatives-only collapses defect recall to 0.057</a:t>
            </a:r>
          </a:p>
          <a:p>
            <a:r>
              <a:t>and never moves the AUC, because the model just learns "not NEU-DET" rather than "not defective")</a:t>
            </a:r>
          </a:p>
          <a:p>
            <a:r>
              <a:t>takes cross-domain AUC to 0.958, clean-frame false alarms to 32.5%, and Severstal defect recall to</a:t>
            </a:r>
          </a:p>
          <a:p>
            <a:r>
              <a:t>86.6%. In-domain AUC gives back a little (0.968 -&gt; 0.940) but the confidence intervals overlap</a:t>
            </a:r>
          </a:p>
          <a:p>
            <a:r>
              <a:t>substantially, so that cost is not established. This is the strongest result in the deck.</a:t>
            </a:r>
          </a:p>
          <a:p/>
          <a:p>
            <a:r>
              <a:t>Panel B shows there is no trade-off to explain away: four classes lose 2-4 points of AP50, but the</a:t>
            </a:r>
          </a:p>
          <a:p>
            <a:r>
              <a:t>two weakest classes -- crazing and rolled-in scale -- both improve, and overall mAP50 rises</a:t>
            </a:r>
          </a:p>
          <a:p>
            <a:r>
              <a:t>0.7524 -&gt; 0.7642. The mechanism: 1,190 certified-clean training crops teach the model to stop</a:t>
            </a:r>
          </a:p>
          <a:p>
            <a:r>
              <a:t>carpeting low-contrast texture with boxes, which is exactly crazing's failure mode.</a:t>
            </a:r>
          </a:p>
          <a:p/>
          <a:p>
            <a:r>
              <a:t>Panel C: both checkpoints sit inside the 0.70-0.80 credible band for well-run NEU-DET baselines,</a:t>
            </a:r>
          </a:p>
          <a:p>
            <a:r>
              <a:t>75.2 and 76.4 respectively, against seven published results, all [HARD] in research_notes s1b.</a:t>
            </a:r>
          </a:p>
          <a:p/>
          <a:p>
            <a:r>
              <a:t>If asked about the disposition chain: a verified-clean Severstal coil that the shipped model HOLDs</a:t>
            </a:r>
          </a:p>
          <a:p>
            <a:r>
              <a:t>today (55.2% defect rate, 101 zero-tolerance "inclusion" frames -- an obvious, expensive false</a:t>
            </a:r>
          </a:p>
          <a:p>
            <a:r>
              <a:t>alarm) is DOWNGRADEd by the joint model at the same threshold (4.8% defect rate, zero</a:t>
            </a:r>
          </a:p>
          <a:p>
            <a:r>
              <a:t>zero-tolerance triggers). Not yet ACCEPT -- at conf 0.40 the defect rate clears the 2% limit but one</a:t>
            </a:r>
          </a:p>
          <a:p>
            <a:r>
              <a:t>frame sits in the high-severity band, and four of the five surviving detections are Severstal</a:t>
            </a:r>
          </a:p>
          <a:p>
            <a:r>
              <a:t>classes whose severity tier is genuinely unknown (the competition never published semantic names</a:t>
            </a:r>
          </a:p>
          <a:p>
            <a:r>
              <a:t>for them, and DEFECT_INFO does not invent one). That is why this ships alongside the default and</a:t>
            </a:r>
          </a:p>
          <a:p>
            <a:r>
              <a:t>not in place of it -- section 10 of the report lists the remaining blockers.</a:t>
            </a:r>
          </a:p>
          <a:p/>
          <a:p>
            <a:r>
              <a:t>640 px (bottom of the left column): tested properly this time, not waved off on a false number. The</a:t>
            </a:r>
          </a:p>
          <a:p>
            <a:r>
              <a:t>project's own README used to say 640 px training costs "&gt;11 minutes per epoch" -- that was a</a:t>
            </a:r>
          </a:p>
          <a:p>
            <a:r>
              <a:t>batch-32 memory cliff on this machine, not arithmetic. At batch 16 it trains fine: 65 s/epoch</a:t>
            </a:r>
          </a:p>
          <a:p>
            <a:r>
              <a:t>median, 2.7 h for 150 epochs. The resulting model scores 0.7338 mAP50 at its own best test size,</a:t>
            </a:r>
          </a:p>
          <a:p>
            <a:r>
              <a:t>against the shipped 0.7524 -- a gap of -0.0186, entirely inside the +/-0.0254 bootstrap noise band</a:t>
            </a:r>
          </a:p>
          <a:p>
            <a:r>
              <a:t>computed on model_study.json's own resamples. Skipping 640 px as the shipped size was still the</a:t>
            </a:r>
          </a:p>
          <a:p>
            <a:r>
              <a:t>right call (4.3x the training time, 4x the inference pixels, no measured benefit) -- but not for</a:t>
            </a:r>
          </a:p>
          <a:p>
            <a:r>
              <a:t>the reason originally given.</a:t>
            </a:r>
          </a:p>
          <a:p/>
          <a:p>
            <a:r>
              <a:t>Input pipeline, one line: lossless padding (the source pixels, verbatim, in a grey border) was</a:t>
            </a:r>
          </a:p>
          <a:p>
            <a:r>
              <a:t>tested head-to-head against the shipped bilinear scaling to 256 px, at the same tensor size, on</a:t>
            </a:r>
          </a:p>
          <a:p>
            <a:r>
              <a:t>both checkpoints and both splits. Scaling wins every time, by 0.024 to 0.052 mAP50. A</a:t>
            </a:r>
          </a:p>
          <a:p>
            <a:r>
              <a:t>nearest-neighbour arm proved this is not about fidelity -- it is byte-exact and lossless too, and it</a:t>
            </a:r>
          </a:p>
          <a:p>
            <a:r>
              <a:t>is the WORST arm of all five tested. Magnification and kernel smoothness matter; raw pixel</a:t>
            </a:r>
          </a:p>
          <a:p>
            <a:r>
              <a:t>preservation does not. Nothing about DEFAULT_IMGSZ changes.</a:t>
            </a:r>
          </a:p>
          <a:p/>
          <a:p>
            <a:r>
              <a:t>GC10 (right column): the brief's roll-marks and edge-cracks gap is now half-closed, honestly. Roll</a:t>
            </a:r>
          </a:p>
          <a:p>
            <a:r>
              <a:t>marks (rolled_pit, crease) are a direct match but thin and weak -- 24 test instances, mean AP50</a:t>
            </a:r>
          </a:p>
          <a:p>
            <a:r>
              <a:t>0.203, and a live sweep shows 4 of 11 rolled_pit images produce nothing at conf 0.15. The edge</a:t>
            </a:r>
          </a:p>
          <a:p>
            <a:r>
              <a:t>family (crescent_gap, waist_fold) scores a strong 0.880 on 61 instances, but it is edge GEOMETRY --</a:t>
            </a:r>
          </a:p>
          <a:p>
            <a:r>
              <a:t>a scalloped bite, a folded edge -- not a crack, and no crack class exists anywhere in this project's</a:t>
            </a:r>
          </a:p>
          <a:p>
            <a:r>
              <a:t>data. Report both numbers with their instance counts attached or not at all; do not average them</a:t>
            </a:r>
          </a:p>
          <a:p>
            <a:r>
              <a:t>into one "edge/roll coverage" headline.</a:t>
            </a:r>
          </a:p>
          <a:p/>
          <a:p>
            <a:r>
              <a:t>The old clean-crop false-alarm proxy (&lt;=23.7%, slide 1) is not wrong, but it is now superseded as</a:t>
            </a:r>
          </a:p>
          <a:p>
            <a:r>
              <a:t>the best available false-alarm evidence: it was always a ceiling on a NEU-DET population that</a:t>
            </a:r>
          </a:p>
          <a:p>
            <a:r>
              <a:t>cannot contain a genuinely clean frame, and the cross-domain numbers in the middle column are a</a:t>
            </a:r>
          </a:p>
          <a:p>
            <a:r>
              <a:t>real measurement on certified clean and defective steel from a different dataset entirely.</a:t>
            </a:r>
          </a:p>
          <a:p/>
          <a:p>
            <a:r>
              <a:t>No absolute frame rate anywhere on this slide: GPU throughput on this host moved between 234 and</a:t>
            </a:r>
          </a:p>
          <a:p>
            <a:r>
              <a:t>283 f/s across sessions for the same model. Bands and ratios only, same discipline as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framing sentence is the title. Nothing in the architecture is novel -- it is a stock YOLOv8n.</a:t>
            </a:r>
          </a:p>
          <a:p>
            <a:r>
              <a:t>What is different is that every number has been held out, bounded, or refused, and that now</a:t>
            </a:r>
          </a:p>
          <a:p>
            <a:r>
              <a:t>extends past NEU-DET itself: cross-domain robustness, confidence, and out-of-scope input are all</a:t>
            </a:r>
          </a:p>
          <a:p>
            <a:r>
              <a:t>measured, not assumed.</a:t>
            </a:r>
          </a:p>
          <a:p/>
          <a:p>
            <a:r>
              <a:t>Panel A is the finding I would spend the most time on. Train two capacities on one recipe and the</a:t>
            </a:r>
          </a:p>
          <a:p>
            <a:r>
              <a:t>3.7x larger model does not win. At the training size the gap is +0.0688 mAP50 to nano with a 95%</a:t>
            </a:r>
          </a:p>
          <a:p>
            <a:r>
              <a:t>interval of [+0.0309, +0.0990] that excludes zero, and nano wins 99.95% of 2,000 paired resamples.</a:t>
            </a:r>
          </a:p>
          <a:p>
            <a:r>
              <a:t>But that is not the comparison a deployment faces, because each model has its own best inference</a:t>
            </a:r>
          </a:p>
          <a:p>
            <a:r>
              <a:t>size. At each model's own best size -- both 256 px, both chosen on validation -- the gap collapses</a:t>
            </a:r>
          </a:p>
          <a:p>
            <a:r>
              <a:t>to +0.0181 with an interval of [-0.0084, +0.0424] that contains zero. So the honest claim is not</a:t>
            </a:r>
          </a:p>
          <a:p>
            <a:r>
              <a:t>"nano is the better detector". It is "nano is not worse, and it is 3.7x smaller and 3.5x cheaper in</a:t>
            </a:r>
          </a:p>
          <a:p>
            <a:r>
              <a:t>FLOPs", which is more than enough to decide what ships.</a:t>
            </a:r>
          </a:p>
          <a:p/>
          <a:p>
            <a:r>
              <a:t>Be ready for the strongest counter-argument, and give it before it is given to you: on</a:t>
            </a:r>
          </a:p>
          <a:p>
            <a:r>
              <a:t>ultralytics' own fitness metric, the criterion that selected both checkpoints, yolov8s at 256</a:t>
            </a:r>
          </a:p>
          <a:p>
            <a:r>
              <a:t>actually wins, 0.4389 against 0.4323. No accuracy metric picks nano. The recommendation rests on</a:t>
            </a:r>
          </a:p>
          <a:p>
            <a:r>
              <a:t>cost, and it says so.</a:t>
            </a:r>
          </a:p>
          <a:p/>
          <a:p>
            <a:r>
              <a:t>The mechanism is visible in the loss curves rather than the mAP. At the end of training yolov8s</a:t>
            </a:r>
          </a:p>
          <a:p>
            <a:r>
              <a:t>sits at train classification loss 0.823 against validation 1.090, a generalisation gap of +0.267.</a:t>
            </a:r>
          </a:p>
          <a:p>
            <a:r>
              <a:t>yolov8n's gap is -0.061. 1,440 training images do not support the larger model's capacity. That is</a:t>
            </a:r>
          </a:p>
          <a:p>
            <a:r>
              <a:t>the transferable lesson for any small industrial dataset, including Jindal's first labelled batch.</a:t>
            </a:r>
          </a:p>
          <a:p/>
          <a:p>
            <a:r>
              <a:t>Panel B is the deployment discipline point and it is not academic. The same weights lose 54% of</a:t>
            </a:r>
          </a:p>
          <a:p>
            <a:r>
              <a:t>mAP50 between 256 px and 640 px -- 0.7524 to 0.3438 -- because a detector can only regress boxes at</a:t>
            </a:r>
          </a:p>
          <a:p>
            <a:r>
              <a:t>the scale it was trained on. Innovation item 4 now carries a second half: a proper 640 px model was</a:t>
            </a:r>
          </a:p>
          <a:p>
            <a:r>
              <a:t>also trained from scratch (150 epochs, 65 s/epoch, not the "&gt;11 min/epoch" the README used to</a:t>
            </a:r>
          </a:p>
          <a:p>
            <a:r>
              <a:t>claim) and it ties the shipped model within noise (0.7338 vs 0.7524, inside +/-0.0254). Two</a:t>
            </a:r>
          </a:p>
          <a:p>
            <a:r>
              <a:t>different findings, both now measured: the shipped weights collapse if you change imgsz at</a:t>
            </a:r>
          </a:p>
          <a:p>
            <a:r>
              <a:t>inference; a from-scratch 640 px model does not collapse, it just does not help either.</a:t>
            </a:r>
          </a:p>
          <a:p/>
          <a:p>
            <a:r>
              <a:t>Innovation item 3 replaces the deck's previous, wrong claim that backbone features transfer</a:t>
            </a:r>
          </a:p>
          <a:p>
            <a:r>
              <a:t>unchanged across domains. They do not: cross-domain ROC AUC was 0.608, indistinguishable from</a:t>
            </a:r>
          </a:p>
          <a:p>
            <a:r>
              <a:t>chance, on 505 held-out certified-clean Severstal frames. Joint training on real target-domain</a:t>
            </a:r>
          </a:p>
          <a:p>
            <a:r>
              <a:t>positives and negatives together (not negatives alone -- that traps into a domain classifier with</a:t>
            </a:r>
          </a:p>
          <a:p>
            <a:r>
              <a:t>defect recall 0.057) fixes it to AUC 0.958, cuts clean-frame false alarms 93.7% -&gt; 32.5%, and raises</a:t>
            </a:r>
          </a:p>
          <a:p>
            <a:r>
              <a:t>in-domain mAP50 0.7524 -&gt; 0.7642 at the same time. Full detail and the remaining ship blockers are</a:t>
            </a:r>
          </a:p>
          <a:p>
            <a:r>
              <a:t>on slide 3 and in reports/gap1_cross_domain_fix.md section 10.</a:t>
            </a:r>
          </a:p>
          <a:p/>
          <a:p>
            <a:r>
              <a:t>Innovation item 5's two additions are both measured, not aspirational. Calibration: isotonic</a:t>
            </a:r>
          </a:p>
          <a:p>
            <a:r>
              <a:t>regression, fit on val only, evaluated once on test, cuts ECE 0.1418 -&gt; 0.0461 while leaving mAP50</a:t>
            </a:r>
          </a:p>
          <a:p>
            <a:r>
              <a:t>provably unchanged (rank-invariant by construction; verified numerically at 0.707986 before and</a:t>
            </a:r>
          </a:p>
          <a:p>
            <a:r>
              <a:t>after under this module's own AP50 implementation). The OOD gate: 0 false rejections across 3,200</a:t>
            </a:r>
          </a:p>
          <a:p>
            <a:r>
              <a:t>genuine NEU-DET and Severstal frames, correctly withholds a verdict on logo, white-frame and</a:t>
            </a:r>
          </a:p>
          <a:p>
            <a:r>
              <a:t>cartoon input, and scores 13/15 on a held-out synthetic-negative suite (the two misses are</a:t>
            </a:r>
          </a:p>
          <a:p>
            <a:r>
              <a:t>wood_grain and a radial gradient, both textures that resemble a real surface).</a:t>
            </a:r>
          </a:p>
          <a:p/>
          <a:p>
            <a:r>
              <a:t>On limitations, do not soften any of them. NEU-DET is hot-rolled carbon steel under one lighting</a:t>
            </a:r>
          </a:p>
          <a:p>
            <a:r>
              <a:t>rig -- still true, still the first thing to say. Domain shift is now "confirmed and partly fixed"</a:t>
            </a:r>
          </a:p>
          <a:p>
            <a:r>
              <a:t>rather than purely a warning: the fix is real and measured, but it ships as a second checkpoint,</a:t>
            </a:r>
          </a:p>
          <a:p>
            <a:r>
              <a:t>not a replacement, because severity tiers for the four new Severstal classes are genuinely unset</a:t>
            </a:r>
          </a:p>
          <a:p>
            <a:r>
              <a:t>(the competition never published names for them) and inference.py's dual-checkpoint path is not</a:t>
            </a:r>
          </a:p>
          <a:p>
            <a:r>
              <a:t>yet unified. GC10 is the newest limitation: roll marks are real but thin (24 test instances, one</a:t>
            </a:r>
          </a:p>
          <a:p>
            <a:r>
              <a:t>flip moves recall 8-9 points) and the edge family, while strong at 0.880 AP50, is a geometry proxy,</a:t>
            </a:r>
          </a:p>
          <a:p>
            <a:r>
              <a:t>not a crack detector -- no crack class exists in any dataset used anywhere in this project.</a:t>
            </a:r>
          </a:p>
          <a:p/>
          <a:p>
            <a:r>
              <a:t>Also worth having ready: the transformer point in innovation item 6 is not a swipe. On a dataset</a:t>
            </a:r>
          </a:p>
          <a:p>
            <a:r>
              <a:t>this small with objects this small, published out-of-the-box DETR scores 25.2 and RT-DETR 55.0</a:t>
            </a:r>
          </a:p>
          <a:p>
            <a:r>
              <a:t>mAP50 against YOLOv11's 71.6, from the same comparative study. Choosing YOLO was an argument, not a</a:t>
            </a:r>
          </a:p>
          <a:p>
            <a:r>
              <a:t>default -- and the same argument says a mill with 200,000 labelled frames should revisit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roadmap is a proposal, not a measurement, and Phase 0 is the honest centre of it. Every figure</a:t>
            </a:r>
          </a:p>
          <a:p>
            <a:r>
              <a:t>this deck had to bound rather than state -- the real false-alarm rate, the accuracy on stainless,</a:t>
            </a:r>
          </a:p>
          <a:p>
            <a:r>
              <a:t>the transfer across magnification -- becomes measurable the moment there is a camera on one line</a:t>
            </a:r>
          </a:p>
          <a:p>
            <a:r>
              <a:t>capturing prime coils at line speed. Six weeks of instrumentation buys more certainty than any</a:t>
            </a:r>
          </a:p>
          <a:p>
            <a:r>
              <a:t>amount of further work on NEU-DET.</a:t>
            </a:r>
          </a:p>
          <a:p/>
          <a:p>
            <a:r>
              <a:t>The only measured number inside the roadmap is the 0.6 h per-line fine-tune: 15.24 s/epoch median</a:t>
            </a:r>
          </a:p>
          <a:p>
            <a:r>
              <a:t>at 320 px over 135 epochs on this laptop GPU, from models/yolov8n_neudet/results.csv. An overnight</a:t>
            </a:r>
          </a:p>
          <a:p>
            <a:r>
              <a:t>retrain per line is affordable, which is what makes per-line calibration a plan rather than a wish.</a:t>
            </a:r>
          </a:p>
          <a:p/>
          <a:p>
            <a:r>
              <a:t>On the commercial column, be explicit that this is arithmetic on a swept assumption, and show the</a:t>
            </a:r>
          </a:p>
          <a:p>
            <a:r>
              <a:t>inputs. Volume 2,565,902 t and blended realisation INR 167,407/t are derived directly from Jindal's</a:t>
            </a:r>
          </a:p>
          <a:p>
            <a:r>
              <a:t>own FY26 reported figures -- consolidated net revenue INR 42,955 cr, sales volume 2,565,902 t --</a:t>
            </a:r>
          </a:p>
          <a:p>
            <a:r>
              <a:t>so those two are unattackable. Reported EBITDA works out at about INR 21,669 per tonne. The</a:t>
            </a:r>
          </a:p>
          <a:p>
            <a:r>
              <a:t>downgrade rate and the prime-to-secondary discount are not public, so they are swept across a 3x3</a:t>
            </a:r>
          </a:p>
          <a:p>
            <a:r>
              <a:t>grid and the whole grid is on the slide. The mid case is 1.0% at a 10% discount: 2,565,902 t x 1.0%</a:t>
            </a:r>
          </a:p>
          <a:p>
            <a:r>
              <a:t>x INR 167,407/t x 10% = INR 43 cr/yr at risk. Recover 30% and that is INR 13 cr/yr.</a:t>
            </a:r>
          </a:p>
          <a:p/>
          <a:p>
            <a:r>
              <a:t>The capex side is the weakest number on the slide and I will say so unprompted. USD 2.4M for a</a:t>
            </a:r>
          </a:p>
          <a:p>
            <a:r>
              <a:t>multi-camera, both-surfaces, PLC-integrated surface inspection system on one line traces only to an</a:t>
            </a:r>
          </a:p>
          <a:p>
            <a:r>
              <a:t>AI-generated SEO content farm. The order of magnitude is plausible and consistent with what such a</a:t>
            </a:r>
          </a:p>
          <a:p>
            <a:r>
              <a:t>system involves, but it has no attributable source, so it is presented as an order of magnitude and</a:t>
            </a:r>
          </a:p>
          <a:p>
            <a:r>
              <a:t>nothing more. Payback of about 1.6 years follows: INR 21 cr against INR 13 cr/yr. That is a good</a:t>
            </a:r>
          </a:p>
          <a:p>
            <a:r>
              <a:t>but not miraculous number, and presenting it that way is deliberate. The upside cases in the grid</a:t>
            </a:r>
          </a:p>
          <a:p>
            <a:r>
              <a:t>reach payback in under five months, and they rest entirely on the unsourced downgrade rate -- which</a:t>
            </a:r>
          </a:p>
          <a:p>
            <a:r>
              <a:t>is why the ask is on the slide.</a:t>
            </a:r>
          </a:p>
          <a:p/>
          <a:p>
            <a:r>
              <a:t>Deliberately not monetised, because there is no defensible source: avoided strip breakage and mill</a:t>
            </a:r>
          </a:p>
          <a:p>
            <a:r>
              <a:t>damage (which was the actual Ternium business case), reduced customer claims, inspector</a:t>
            </a:r>
          </a:p>
          <a:p>
            <a:r>
              <a:t>redeployment, and root-cause feedback to the caster and descaler. Name them; do not put rupees on</a:t>
            </a:r>
          </a:p>
          <a:p>
            <a:r>
              <a:t>them.</a:t>
            </a:r>
          </a:p>
          <a:p/>
          <a:p>
            <a:r>
              <a:t>On sustainability, the same discipline. Recovered yield is melting, rolling, annealing and nickel</a:t>
            </a:r>
          </a:p>
          <a:p>
            <a:r>
              <a:t>not spent twice, and on 304 the nickel content makes that materially larger than on carbon steel.</a:t>
            </a:r>
          </a:p>
          <a:p>
            <a:r>
              <a:t>A tonne-of-CO2 figure would need Jindal's specific energy per tonne, which is not public, so there</a:t>
            </a:r>
          </a:p>
          <a:p>
            <a:r>
              <a:t>is no CO2 number on this deck.</a:t>
            </a:r>
          </a:p>
          <a:p/>
          <a:p>
            <a:r>
              <a:t>On scaling: the honest split is that the serving architecture, the severity and MES plumbing and</a:t>
            </a:r>
          </a:p>
          <a:p>
            <a:r>
              <a:t>the training recipe transfer unchanged, while every new grade, finish and lighting setup needs its</a:t>
            </a:r>
          </a:p>
          <a:p>
            <a:r>
              <a:t>own labelled frames -- and, per slide 3, the backbone by itself does NOT transfer unchanged: it</a:t>
            </a:r>
          </a:p>
          <a:p>
            <a:r>
              <a:t>measured chance-level (AUC 0.608) on real clean Severstal steel until joint training on real</a:t>
            </a:r>
          </a:p>
          <a:p>
            <a:r>
              <a:t>target-domain positives and negatives fixed it to 0.958, while also lifting in-domain mAP50</a:t>
            </a:r>
          </a:p>
          <a:p>
            <a:r>
              <a:t>0.7524 -&gt; 0.7642. Budget a joint fine-tune with real negatives for every new grade or camera, the</a:t>
            </a:r>
          </a:p>
          <a:p>
            <a:r>
              <a:t>same way the Severstal fix was done, not a frozen backbone plus new labels alone. Active learning</a:t>
            </a:r>
          </a:p>
          <a:p>
            <a:r>
              <a:t>is proposed practice -- I searched and found no</a:t>
            </a:r>
          </a:p>
          <a:p>
            <a:r>
              <a:t>NEU-DET-specific active-learning study to cite, and the slide says "proposed". The</a:t>
            </a:r>
          </a:p>
          <a:p>
            <a:r>
              <a:t>self-supervised result is properly sourced and is the strongest labelling-cost argument available:</a:t>
            </a:r>
          </a:p>
          <a:p>
            <a:r>
              <a:t>SimSiam pretraining on 20,272 unlabelled images reached 0.768 mAP50 against 0.773 for ImageNet</a:t>
            </a:r>
          </a:p>
          <a:p>
            <a:r>
              <a:t>pretraining and 0.280 from random initialisation. A mill's own unlabelled coil imagery is a free</a:t>
            </a:r>
          </a:p>
          <a:p>
            <a:r>
              <a:t>asset, and that is a genuinely differentiating thing to say in this room.</a:t>
            </a:r>
          </a:p>
          <a:p/>
          <a:p>
            <a:r>
              <a:t>Close on the ask: give us one line, one camera rig, six weeks, and the downgrade rate from your MIS.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48640"/>
            <a:ext cx="10454335" cy="420624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 i="0">
                <a:solidFill>
                  <a:srgbClr val="141C24"/>
                </a:solidFill>
                <a:latin typeface="Arial"/>
              </a:rPr>
              <a:t>Defects are found after the value has already been added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1F4E6B"/>
                </a:solidFill>
                <a:latin typeface="Arial"/>
              </a:rPr>
              <a:t>PROBLEM UNDERSTANDING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966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6B7885"/>
                </a:solidFill>
                <a:latin typeface="Arial"/>
              </a:rPr>
              <a:t>Surface defect detection on stainless strip, at line speed, on the rolling and finishing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1185855" cy="12700"/>
          </a:xfrm>
          <a:prstGeom prst="rect">
            <a:avLst/>
          </a:prstGeom>
          <a:solidFill>
            <a:srgbClr val="D6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8695" y="32918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C7CFD6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806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F4E6B"/>
                </a:solidFill>
                <a:latin typeface="Arial"/>
              </a:rPr>
              <a:t>Why this is worth solving</a:t>
            </a:r>
          </a:p>
          <a:p>
            <a:pPr>
              <a:spcAft>
                <a:spcPts val="650"/>
              </a:spcAft>
            </a:pPr>
            <a:r>
              <a:rPr sz="98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980" b="0" i="0">
                <a:solidFill>
                  <a:srgbClr val="33414F"/>
                </a:solidFill>
                <a:latin typeface="Arial"/>
              </a:rPr>
              <a:t>A defect born upstream travels the whole route -- crazing at reheat or coiling, inclusions at the caster, rolled-in scale at the descaler. By the time it is graded, melting, rolling, annealing and pickling have all been paid for.</a:t>
            </a:r>
          </a:p>
          <a:p>
            <a:pPr>
              <a:spcAft>
                <a:spcPts val="650"/>
              </a:spcAft>
            </a:pPr>
            <a:r>
              <a:rPr sz="98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980" b="0" i="0">
                <a:solidFill>
                  <a:srgbClr val="33414F"/>
                </a:solidFill>
                <a:latin typeface="Arial"/>
              </a:rPr>
              <a:t>On stainless the loss is heavier. Nickel is 8-10% of 304 by mass at INR 1,500-2,000/kg, so a downgraded tonne of 304 destroys several times the value of a downgraded tonne of carbon steel.</a:t>
            </a:r>
          </a:p>
          <a:p>
            <a:pPr>
              <a:spcAft>
                <a:spcPts val="650"/>
              </a:spcAft>
            </a:pPr>
            <a:r>
              <a:rPr sz="98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980" b="0" i="0">
                <a:solidFill>
                  <a:srgbClr val="33414F"/>
                </a:solidFill>
                <a:latin typeface="Arial"/>
              </a:rPr>
              <a:t>Manual inspection samples. It cannot cover the whole surface of a moving strip, and two inspectors do not grade the same coil the same way.</a:t>
            </a:r>
          </a:p>
          <a:p>
            <a:pPr>
              <a:spcAft>
                <a:spcPts val="650"/>
              </a:spcAft>
            </a:pPr>
            <a:r>
              <a:rPr sz="98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980" b="0" i="0">
                <a:solidFill>
                  <a:srgbClr val="33414F"/>
                </a:solidFill>
                <a:latin typeface="Arial"/>
              </a:rPr>
              <a:t>Cost of poor quality in manufacturing averages about 15% of sales, range 5-35% (IISE). Up to 60% of quality-relevant surface defects start in the slab (ISRA, vendor claim) -- so inspect early, and classify rather than merely alarm.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39896"/>
            <a:ext cx="5806440" cy="786384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 w="9525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849624"/>
            <a:ext cx="54772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19" b="0" i="1">
                <a:solidFill>
                  <a:srgbClr val="141C24"/>
                </a:solidFill>
                <a:latin typeface="Arial"/>
              </a:rPr>
              <a:t>"The steel strip passes in front of the quality inspector at 300 metres per minute, so it is impossible for the human eye to inspect the whole surface."</a:t>
            </a:r>
          </a:p>
          <a:p>
            <a:r>
              <a:rPr sz="819" b="0" i="0">
                <a:solidFill>
                  <a:srgbClr val="6B7885"/>
                </a:solidFill>
                <a:latin typeface="Arial"/>
              </a:rPr>
              <a:t>AMETEK Surface Vision, Ternium Pesqueria PLTCM case study,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4967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F4E6B"/>
                </a:solidFill>
                <a:latin typeface="Arial"/>
              </a:rPr>
              <a:t>Objectives, and how we will know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46504"/>
            <a:ext cx="4967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60" b="1" i="0">
                <a:solidFill>
                  <a:srgbClr val="6B7885"/>
                </a:solidFill>
                <a:latin typeface="Arial"/>
              </a:rPr>
              <a:t>SUCCESS INDICATOR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746504"/>
            <a:ext cx="37756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20840" y="1746504"/>
            <a:ext cx="4843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28364" y="1746504"/>
            <a:ext cx="10681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60" b="1" i="0">
                <a:solidFill>
                  <a:srgbClr val="6B7885"/>
                </a:solidFill>
                <a:latin typeface="Arial"/>
              </a:rP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96470" y="1746504"/>
            <a:ext cx="1192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60" b="1" i="0">
                <a:solidFill>
                  <a:srgbClr val="6B7885"/>
                </a:solidFill>
                <a:latin typeface="Arial"/>
              </a:rPr>
              <a:t>MEASURED, NEU-DET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947672"/>
            <a:ext cx="4967935" cy="9525"/>
          </a:xfrm>
          <a:prstGeom prst="rect">
            <a:avLst/>
          </a:prstGeom>
          <a:solidFill>
            <a:srgbClr val="D6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020824"/>
            <a:ext cx="259779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40" b="0" i="0">
                <a:solidFill>
                  <a:srgbClr val="33414F"/>
                </a:solidFill>
                <a:latin typeface="Arial"/>
              </a:rPr>
              <a:t>Detection quality on a split never tuned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8364" y="2020824"/>
            <a:ext cx="106810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40" b="0" i="0">
                <a:solidFill>
                  <a:srgbClr val="6B7885"/>
                </a:solidFill>
                <a:latin typeface="Arial"/>
              </a:rPr>
              <a:t>mAP50 &gt;= 0.70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96470" y="2020824"/>
            <a:ext cx="1192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40" b="1" i="0">
                <a:solidFill>
                  <a:srgbClr val="1F4E6B"/>
                </a:solidFill>
                <a:latin typeface="Arial"/>
              </a:rPr>
              <a:t>0.7524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2322575"/>
            <a:ext cx="4967935" cy="9525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372868"/>
            <a:ext cx="259779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40" b="0" i="0">
                <a:solidFill>
                  <a:srgbClr val="33414F"/>
                </a:solidFill>
                <a:latin typeface="Arial"/>
              </a:rPr>
              <a:t>Defective frames flagged at the operating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8364" y="2372868"/>
            <a:ext cx="106810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40" b="0" i="0">
                <a:solidFill>
                  <a:srgbClr val="6B7885"/>
                </a:solidFill>
                <a:latin typeface="Arial"/>
              </a:rPr>
              <a:t>&gt;= 90%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96470" y="2372868"/>
            <a:ext cx="1192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40" b="1" i="0">
                <a:solidFill>
                  <a:srgbClr val="1F4E6B"/>
                </a:solidFill>
                <a:latin typeface="Arial"/>
              </a:rPr>
              <a:t>92.2%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2674619"/>
            <a:ext cx="4967935" cy="9525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724912"/>
            <a:ext cx="259779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40" b="0" i="0">
                <a:solidFill>
                  <a:srgbClr val="33414F"/>
                </a:solidFill>
                <a:latin typeface="Arial"/>
              </a:rPr>
              <a:t>Defect-free steel raising a 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8364" y="2724912"/>
            <a:ext cx="106810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40" b="0" i="0">
                <a:solidFill>
                  <a:srgbClr val="6B7885"/>
                </a:solidFill>
                <a:latin typeface="Arial"/>
              </a:rPr>
              <a:t>&lt;= 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96470" y="2724912"/>
            <a:ext cx="1192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40" b="1" i="0">
                <a:solidFill>
                  <a:srgbClr val="1F4E6B"/>
                </a:solidFill>
                <a:latin typeface="Arial"/>
              </a:rPr>
              <a:t>&lt;= 23.7%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3026664"/>
            <a:ext cx="4967935" cy="9525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076956"/>
            <a:ext cx="259779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40" b="0" i="0">
                <a:solidFill>
                  <a:srgbClr val="33414F"/>
                </a:solidFill>
                <a:latin typeface="Arial"/>
              </a:rPr>
              <a:t>Wrong-class detections among missed labels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8364" y="3076956"/>
            <a:ext cx="106810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40" b="0" i="0">
                <a:solidFill>
                  <a:srgbClr val="6B7885"/>
                </a:solidFill>
                <a:latin typeface="Arial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96470" y="3076956"/>
            <a:ext cx="1192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40" b="1" i="0">
                <a:solidFill>
                  <a:srgbClr val="1F4E6B"/>
                </a:solidFill>
                <a:latin typeface="Arial"/>
              </a:rPr>
              <a:t>0 of 168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3378708"/>
            <a:ext cx="4967935" cy="9525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429000"/>
            <a:ext cx="259779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40" b="0" i="0">
                <a:solidFill>
                  <a:srgbClr val="33414F"/>
                </a:solidFill>
                <a:latin typeface="Arial"/>
              </a:rPr>
              <a:t>Model small enough to sit at the 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8364" y="3429000"/>
            <a:ext cx="106810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40" b="0" i="0">
                <a:solidFill>
                  <a:srgbClr val="6B7885"/>
                </a:solidFill>
                <a:latin typeface="Arial"/>
              </a:rPr>
              <a:t>&lt; 10 MB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96470" y="3429000"/>
            <a:ext cx="1192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40" b="1" i="0">
                <a:solidFill>
                  <a:srgbClr val="1F4E6B"/>
                </a:solidFill>
                <a:latin typeface="Arial"/>
              </a:rPr>
              <a:t>6.22 MB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3730752"/>
            <a:ext cx="4967935" cy="9525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3781044"/>
            <a:ext cx="259779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40" b="0" i="0">
                <a:solidFill>
                  <a:srgbClr val="33414F"/>
                </a:solidFill>
                <a:latin typeface="Arial"/>
              </a:rPr>
              <a:t>Per-line recalibration inside one shift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28364" y="3781044"/>
            <a:ext cx="106810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40" b="0" i="0">
                <a:solidFill>
                  <a:srgbClr val="6B7885"/>
                </a:solidFill>
                <a:latin typeface="Arial"/>
              </a:rPr>
              <a:t>&lt; 8 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96470" y="3781044"/>
            <a:ext cx="1192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40" b="1" i="0">
                <a:solidFill>
                  <a:srgbClr val="1F4E6B"/>
                </a:solidFill>
                <a:latin typeface="Arial"/>
              </a:rPr>
              <a:t>0.6 h</a:t>
            </a:r>
          </a:p>
        </p:txBody>
      </p:sp>
      <p:pic>
        <p:nvPicPr>
          <p:cNvPr id="40" name="Picture 39" descr="fig1_defect_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4572000"/>
            <a:ext cx="10607040" cy="17190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2920" y="6437376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750" b="0" i="0">
                <a:solidFill>
                  <a:srgbClr val="6B7885"/>
                </a:solidFill>
                <a:latin typeface="Arial"/>
              </a:rPr>
              <a:t>MEASURED is the shipped checkpoint, in production today. A joint checkpoint ships alongside it, scoring 0.7642 on the same split while fixing a cross-domain false-alarm problem the shipped model has -- see slide 3.</a:t>
            </a:r>
          </a:p>
          <a:p>
            <a:r>
              <a:rPr sz="750" b="0" i="0">
                <a:solidFill>
                  <a:srgbClr val="6B7885"/>
                </a:solidFill>
                <a:latin typeface="Arial"/>
              </a:rPr>
              <a:t>Sources: reports/model_study.json - reports/false_alarm.json - reports/gap1_cross_domain_fix.md - docs/research_notes.md s2a (AMETEK/Ternium, [HARD]), s2b (ISRA, [VENDOR]), s4a (IISE, [HARD] / stainless pricing [SECONDARY]).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48640"/>
            <a:ext cx="10454335" cy="420624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 i="0">
                <a:solidFill>
                  <a:srgbClr val="141C24"/>
                </a:solidFill>
                <a:latin typeface="Arial"/>
              </a:rPr>
              <a:t>Detect at the tile, decide at the coil, close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1F4E6B"/>
                </a:solidFill>
                <a:latin typeface="Arial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966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6B7885"/>
                </a:solidFill>
                <a:latin typeface="Arial"/>
              </a:rPr>
              <a:t>Architecture, methodology, and the arithmetic that decides the bill: at 250 m/min, full optical resolution costs about 3,064 inferences/s -- roughly 18 accelerators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1185855" cy="12700"/>
          </a:xfrm>
          <a:prstGeom prst="rect">
            <a:avLst/>
          </a:prstGeom>
          <a:solidFill>
            <a:srgbClr val="D6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8695" y="32918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C7CFD6"/>
                </a:solidFill>
                <a:latin typeface="Arial"/>
              </a:rPr>
              <a:t>2</a:t>
            </a:r>
          </a:p>
        </p:txBody>
      </p:sp>
      <p:pic>
        <p:nvPicPr>
          <p:cNvPr id="7" name="Picture 6" descr="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9888"/>
            <a:ext cx="11185855" cy="2381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58768"/>
            <a:ext cx="4892040" cy="2084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F4E6B"/>
                </a:solidFill>
                <a:latin typeface="Arial"/>
              </a:rPr>
              <a:t>Methodology, in the order the decisions were made</a:t>
            </a:r>
          </a:p>
          <a:p>
            <a:pPr>
              <a:spcAft>
                <a:spcPts val="550"/>
              </a:spcAft>
            </a:pPr>
            <a:r>
              <a:rPr sz="950" b="1" i="0">
                <a:solidFill>
                  <a:srgbClr val="1F4E6B"/>
                </a:solidFill>
                <a:latin typeface="Arial"/>
              </a:rPr>
              <a:t>1   </a:t>
            </a:r>
            <a:r>
              <a:rPr sz="950" b="0" i="0">
                <a:solidFill>
                  <a:srgbClr val="33414F"/>
                </a:solidFill>
                <a:latin typeface="Arial"/>
              </a:rPr>
              <a:t>Split first. 1,800 NEU-DET images to 1,440 / 180 / 180, verified content-hash disjoint: 0 duplicate images across splits.</a:t>
            </a:r>
          </a:p>
          <a:p>
            <a:pPr>
              <a:spcAft>
                <a:spcPts val="550"/>
              </a:spcAft>
            </a:pPr>
            <a:r>
              <a:rPr sz="950" b="1" i="0">
                <a:solidFill>
                  <a:srgbClr val="1F4E6B"/>
                </a:solidFill>
                <a:latin typeface="Arial"/>
              </a:rPr>
              <a:t>2   </a:t>
            </a:r>
            <a:r>
              <a:rPr sz="950" b="0" i="0">
                <a:solidFill>
                  <a:srgbClr val="33414F"/>
                </a:solidFill>
                <a:latin typeface="Arial"/>
              </a:rPr>
              <a:t>Train two capacities on one recipe. YOLOv8n and YOLOv8s, same seed and split, 150 epochs at 320 px, batch 32.</a:t>
            </a:r>
          </a:p>
          <a:p>
            <a:pPr>
              <a:spcAft>
                <a:spcPts val="550"/>
              </a:spcAft>
            </a:pPr>
            <a:r>
              <a:rPr sz="950" b="1" i="0">
                <a:solidFill>
                  <a:srgbClr val="1F4E6B"/>
                </a:solidFill>
                <a:latin typeface="Arial"/>
              </a:rPr>
              <a:t>3   </a:t>
            </a:r>
            <a:r>
              <a:rPr sz="950" b="0" i="0">
                <a:solidFill>
                  <a:srgbClr val="33414F"/>
                </a:solidFill>
                <a:latin typeface="Arial"/>
              </a:rPr>
              <a:t>Choose inference size and test-time augmentation on validation only. 256 px won; TTA lost 0.0061 mAP50 for 2.39x the latency, so it is off.</a:t>
            </a:r>
          </a:p>
          <a:p>
            <a:pPr>
              <a:spcAft>
                <a:spcPts val="550"/>
              </a:spcAft>
            </a:pPr>
            <a:r>
              <a:rPr sz="950" b="1" i="0">
                <a:solidFill>
                  <a:srgbClr val="1F4E6B"/>
                </a:solidFill>
                <a:latin typeface="Arial"/>
              </a:rPr>
              <a:t>4   </a:t>
            </a:r>
            <a:r>
              <a:rPr sz="950" b="0" i="0">
                <a:solidFill>
                  <a:srgbClr val="33414F"/>
                </a:solidFill>
                <a:latin typeface="Arial"/>
              </a:rPr>
              <a:t>Choose the alarm threshold on validation against a cost model with a 90% detection floor. That floor, not the economics, sets conf 0.15.</a:t>
            </a:r>
          </a:p>
          <a:p>
            <a:pPr>
              <a:spcAft>
                <a:spcPts val="550"/>
              </a:spcAft>
            </a:pPr>
            <a:r>
              <a:rPr sz="950" b="1" i="0">
                <a:solidFill>
                  <a:srgbClr val="1F4E6B"/>
                </a:solidFill>
                <a:latin typeface="Arial"/>
              </a:rPr>
              <a:t>5   </a:t>
            </a:r>
            <a:r>
              <a:rPr sz="950" b="0" i="0">
                <a:solidFill>
                  <a:srgbClr val="33414F"/>
                </a:solidFill>
                <a:latin typeface="Arial"/>
              </a:rPr>
              <a:t>Score the held-out test split once, at the end. Nothing in the configuration was chosen on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0175"/>
            <a:ext cx="4892040" cy="420624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 w="9525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6071615"/>
            <a:ext cx="46360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0" b="0" i="0">
                <a:solidFill>
                  <a:srgbClr val="33414F"/>
                </a:solidFill>
                <a:latin typeface="Arial"/>
              </a:rPr>
              <a:t>Ships today: the checkpoint plus its cross-domain-fix twin, calibrated confidence, an OOD gate, a verified ONNX/CoreML export, a Streamlit console, a coil report, and 540 passing tests.</a:t>
            </a:r>
          </a:p>
        </p:txBody>
      </p:sp>
      <p:pic>
        <p:nvPicPr>
          <p:cNvPr id="11" name="Picture 10" descr="fig3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3712463"/>
            <a:ext cx="5897880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0" i="0">
                <a:solidFill>
                  <a:srgbClr val="6B7885"/>
                </a:solidFill>
                <a:latin typeface="Arial"/>
              </a:rPr>
              <a:t>Sources: reports/benchmark.json (mill.geometry, mill.deployment, mill.scenarios) - reports/model_study.json - reports/operating_point.json - reports/export_summary.json - reports/calibration.md - reports/ood_guard.md - `.venv/bin/python -m pytest tests/ -q` -&gt; 540 passed, 8 skipped.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48640"/>
            <a:ext cx="10454335" cy="420624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 i="0">
                <a:solidFill>
                  <a:srgbClr val="141C24"/>
                </a:solidFill>
                <a:latin typeface="Arial"/>
              </a:rPr>
              <a:t>0.752 to 0.764 mAP50 -- false alarms fixed on real clean steel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1F4E6B"/>
                </a:solidFill>
                <a:latin typeface="Arial"/>
              </a:rPr>
              <a:t>VALIDATION AND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966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6B7885"/>
                </a:solidFill>
                <a:latin typeface="Arial"/>
              </a:rPr>
              <a:t>Two checkpoints, held out once, against published baselines -- GC10 thin classes and the 640px finding shown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1185855" cy="12700"/>
          </a:xfrm>
          <a:prstGeom prst="rect">
            <a:avLst/>
          </a:prstGeom>
          <a:solidFill>
            <a:srgbClr val="D6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8695" y="32918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C7CFD6"/>
                </a:solidFill>
                <a:latin typeface="Arial"/>
              </a:rPr>
              <a:t>3</a:t>
            </a:r>
          </a:p>
        </p:txBody>
      </p:sp>
      <p:pic>
        <p:nvPicPr>
          <p:cNvPr id="7" name="Picture 6" descr="fig4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85855" cy="30176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480560"/>
            <a:ext cx="3515258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F4E6B"/>
                </a:solidFill>
                <a:latin typeface="Arial"/>
              </a:rPr>
              <a:t>Two checkpoints, one split, scored once</a:t>
            </a:r>
          </a:p>
          <a:p>
            <a:pPr>
              <a:spcAft>
                <a:spcPts val="380"/>
              </a:spcAft>
            </a:pPr>
            <a:r>
              <a:rPr sz="81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810" b="0" i="0">
                <a:solidFill>
                  <a:srgbClr val="33414F"/>
                </a:solidFill>
                <a:latin typeface="Arial"/>
              </a:rPr>
              <a:t>Shipped yolov8n at 256 px, held-out test: mAP50 0.7524, mAP50-95 0.3967, precision 0.696, recall 0.687 -- the model in production today.</a:t>
            </a:r>
          </a:p>
          <a:p>
            <a:pPr>
              <a:spcAft>
                <a:spcPts val="380"/>
              </a:spcAft>
            </a:pPr>
            <a:r>
              <a:rPr sz="81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810" b="0" i="0">
                <a:solidFill>
                  <a:srgbClr val="33414F"/>
                </a:solidFill>
                <a:latin typeface="Arial"/>
              </a:rPr>
              <a:t>Joint yolov8n at 256 px, same split, ships alongside (not replacing) the shipped model: mAP50 0.7642, mAP50-95 0.4008, precision 0.695, recall 0.706 -- in-domain accuracy rose, it did not fall.</a:t>
            </a:r>
          </a:p>
          <a:p>
            <a:pPr>
              <a:spcAft>
                <a:spcPts val="380"/>
              </a:spcAft>
            </a:pPr>
            <a:r>
              <a:rPr sz="81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810" b="0" i="0">
                <a:solidFill>
                  <a:srgbClr val="33414F"/>
                </a:solidFill>
                <a:latin typeface="Arial"/>
              </a:rPr>
              <a:t>640 px was tested, not skipped on a bad number: yolov8n_640 scores 0.7338 at its own best size, inside the +/-0.0254 noise band. Real cost is 65 s/epoch (~2.7 h for 150 epochs), correcting an earlier false '11 min/epoch' claim.</a:t>
            </a:r>
          </a:p>
          <a:p>
            <a:pPr>
              <a:spcAft>
                <a:spcPts val="380"/>
              </a:spcAft>
            </a:pPr>
            <a:r>
              <a:rPr sz="81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810" b="0" i="0">
                <a:solidFill>
                  <a:srgbClr val="33414F"/>
                </a:solidFill>
                <a:latin typeface="Arial"/>
              </a:rPr>
              <a:t>Input pipeline: lossless padding (no resampling) was tested against scaling to 256 px and lost by 0.024-0.052 mAP50 on every checkpoint and split -- scaling stays.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8218" y="4480560"/>
            <a:ext cx="3515258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F4E6B"/>
                </a:solidFill>
                <a:latin typeface="Arial"/>
              </a:rPr>
              <a:t>The cross-domain fix -- the headline result</a:t>
            </a:r>
          </a:p>
          <a:p>
            <a:pPr>
              <a:spcAft>
                <a:spcPts val="380"/>
              </a:spcAft>
            </a:pPr>
            <a:r>
              <a:rPr sz="81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810" b="0" i="0">
                <a:solidFill>
                  <a:srgbClr val="33414F"/>
                </a:solidFill>
                <a:latin typeface="Arial"/>
              </a:rPr>
              <a:t>The shipped model has never seen clean steel: on 505 held-out Severstal frames it flags 93.7% as defective, AUC just 0.608 -- backbone features do not transfer on their own.</a:t>
            </a:r>
          </a:p>
          <a:p>
            <a:pPr>
              <a:spcAft>
                <a:spcPts val="380"/>
              </a:spcAft>
            </a:pPr>
            <a:r>
              <a:rPr sz="81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810" b="0" i="0">
                <a:solidFill>
                  <a:srgbClr val="33414F"/>
                </a:solidFill>
                <a:latin typeface="Arial"/>
              </a:rPr>
              <a:t>Joint training on real Severstal positives and negatives fixes it: false alarms 93.7% -&gt; 32.5%, cross-domain AUC 0.608 -&gt; 0.958, defect recall 72.0% -&gt; 86.6% -- with no cost in-domain (left column).</a:t>
            </a:r>
          </a:p>
          <a:p>
            <a:pPr>
              <a:spcAft>
                <a:spcPts val="380"/>
              </a:spcAft>
            </a:pPr>
            <a:r>
              <a:rPr sz="81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810" b="0" i="0">
                <a:solidFill>
                  <a:srgbClr val="33414F"/>
                </a:solidFill>
                <a:latin typeface="Arial"/>
              </a:rPr>
              <a:t>A verified-clean coil the shipped model HOLDs (55.2% defect rate, 101 'inclusion' frames) is DOWNGRADEd by the joint model (4.8%, 0 triggers) at the same threshold -- not yet ACCEPT.</a:t>
            </a:r>
          </a:p>
          <a:p>
            <a:pPr>
              <a:spcAft>
                <a:spcPts val="380"/>
              </a:spcAft>
            </a:pPr>
            <a:r>
              <a:rPr sz="81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810" b="0" i="0">
                <a:solidFill>
                  <a:srgbClr val="33414F"/>
                </a:solidFill>
                <a:latin typeface="Arial"/>
              </a:rPr>
              <a:t>Not yet the default: severity tiers for the four new Severstal classes are unset, so it ships alongside resolve_weights()'s pick, not in place of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3516" y="4480560"/>
            <a:ext cx="3515258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F4E6B"/>
                </a:solidFill>
                <a:latin typeface="Arial"/>
              </a:rPr>
              <a:t>GC10 coverage, and what stays a proxy</a:t>
            </a:r>
          </a:p>
          <a:p>
            <a:pPr>
              <a:spcAft>
                <a:spcPts val="380"/>
              </a:spcAft>
            </a:pPr>
            <a:r>
              <a:rPr sz="81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810" b="0" i="0">
                <a:solidFill>
                  <a:srgbClr val="33414F"/>
                </a:solidFill>
                <a:latin typeface="Arial"/>
              </a:rPr>
              <a:t>Roll marks (rolled_pit, crease) now have a trained detector: mean AP50 0.203 on 24 held-out instances -- weak and thin: one flip moves recall 8-9 points, and 4 of 11 live rolled_pit images produce zero detections.</a:t>
            </a:r>
          </a:p>
          <a:p>
            <a:pPr>
              <a:spcAft>
                <a:spcPts val="380"/>
              </a:spcAft>
            </a:pPr>
            <a:r>
              <a:rPr sz="81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810" b="0" i="0">
                <a:solidFill>
                  <a:srgbClr val="33414F"/>
                </a:solidFill>
                <a:latin typeface="Arial"/>
              </a:rPr>
              <a:t>Edge family (crescent_gap, waist_fold): mean AP50 0.880 on 61 instances -- strong, but a proxy for edge geometry, not for cracks. No crack class exists in any dataset used here.</a:t>
            </a:r>
          </a:p>
          <a:p>
            <a:pPr>
              <a:spcAft>
                <a:spcPts val="380"/>
              </a:spcAft>
            </a:pPr>
            <a:r>
              <a:rPr sz="81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810" b="0" i="0">
                <a:solidFill>
                  <a:srgbClr val="33414F"/>
                </a:solidFill>
                <a:latin typeface="Arial"/>
              </a:rPr>
              <a:t>The &lt;=23.7% clean-crop figure on slide 1 is a ceiling on a NEU-DET proxy population, not a rate on real clean coil -- the middle column is the real measurement; this proxy is superseded, not wrong.</a:t>
            </a:r>
          </a:p>
          <a:p>
            <a:pPr>
              <a:spcAft>
                <a:spcPts val="380"/>
              </a:spcAft>
            </a:pPr>
            <a:r>
              <a:rPr sz="810" b="1" i="0">
                <a:solidFill>
                  <a:srgbClr val="1F4E6B"/>
                </a:solidFill>
                <a:latin typeface="Arial"/>
              </a:rPr>
              <a:t>—  </a:t>
            </a:r>
            <a:r>
              <a:rPr sz="810" b="0" i="0">
                <a:solidFill>
                  <a:srgbClr val="33414F"/>
                </a:solidFill>
                <a:latin typeface="Arial"/>
              </a:rPr>
              <a:t>No absolute frame rate reproduces on this host between sessions (234-283 f/s for the same model). Bands and ratios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0" i="0">
                <a:solidFill>
                  <a:srgbClr val="6B7885"/>
                </a:solidFill>
                <a:latin typeface="Arial"/>
              </a:rPr>
              <a:t>Sources: reports/gap1_cross_domain_fix.md (in-domain, cross-domain, coil disposition) - reports/gap1_cross_domain.json - reports/gap1_detection_metrics.json - reports/resolution_study.md - reports/input_pipeline_decision.md - reports/gc10_coverage.md - reports/model_study.json - reports/false_alarm.json. Reproduction commands for both headline numbers are in the speaker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48640"/>
            <a:ext cx="10454335" cy="420624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 i="0">
                <a:solidFill>
                  <a:srgbClr val="141C24"/>
                </a:solidFill>
                <a:latin typeface="Arial"/>
              </a:rPr>
              <a:t>What is different here is the discipline, not 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1F4E6B"/>
                </a:solidFill>
                <a:latin typeface="Arial"/>
              </a:rPr>
              <a:t>INNOVATION, DIFFERENTIATION, ASSUMPTIONS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966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6B7885"/>
                </a:solidFill>
                <a:latin typeface="Arial"/>
              </a:rPr>
              <a:t>Everyone benchmarks on NEU-DET. Almost nobody reports what happens when the numbers are held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1185855" cy="12700"/>
          </a:xfrm>
          <a:prstGeom prst="rect">
            <a:avLst/>
          </a:prstGeom>
          <a:solidFill>
            <a:srgbClr val="D6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8695" y="32918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C7CFD6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fig5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897880" cy="25395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68496"/>
            <a:ext cx="58978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F4E6B"/>
                </a:solidFill>
                <a:latin typeface="Arial"/>
              </a:rPr>
              <a:t>Innovation and differentiation</a:t>
            </a:r>
          </a:p>
          <a:p>
            <a:pPr>
              <a:spcAft>
                <a:spcPts val="4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1 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Held-out discipline, not validation scores. Most published NEU-DET figures are validation numbers. The size of that gap is visible in our own run: at 320 px yolov8s reads 0.7237 on val and 0.6598 on test.</a:t>
            </a:r>
          </a:p>
          <a:p>
            <a:pPr>
              <a:spcAft>
                <a:spcPts val="4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2 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Capacity matched to the data. At each model's own best input size, the 3.7x larger model is not better: +0.0181 mAP50 to nano, 95% CI [-0.0084, +0.0424]. The honest claim is 'not worse, and 3.5x cheaper in FLOPs' -- and that is enough to decide a deployment.</a:t>
            </a:r>
          </a:p>
          <a:p>
            <a:pPr>
              <a:spcAft>
                <a:spcPts val="4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3 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Cross-domain robustness, measured AND fixed. Shipped AUC 0.608 (chance) on real clean Severstal steel; joint training takes it to 0.958 and lifts in-domain mAP50 to 0.7642.</a:t>
            </a:r>
          </a:p>
          <a:p>
            <a:pPr>
              <a:spcAft>
                <a:spcPts val="4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4 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Input size pinned as an accuracy parameter. The same weights lose 54% of mAP50 at 640 px, silently -- and a proper 640 px retrain, now tested, only ties within noise.</a:t>
            </a:r>
          </a:p>
          <a:p>
            <a:pPr>
              <a:spcAft>
                <a:spcPts val="4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5 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Explainable, calibrated, and gated. EigenCAM shows what fired; calibration cuts ECE 0.142 -&gt; 0.046; an OOD gate withholds verdicts on non-steel input, 0 false rejections on 3,200 frames.</a:t>
            </a:r>
          </a:p>
          <a:p>
            <a:pPr>
              <a:spcAft>
                <a:spcPts val="4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6 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YOLO by argument, not by default. On this dataset the published out-of-the-box transformer numbers are DETR 25.2 and RT-DETR 55.0 mAP50 against YOLOv11's 71.6.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1968" y="1371600"/>
            <a:ext cx="5233111" cy="4901184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 w="9525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1517904"/>
            <a:ext cx="4940503" cy="461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F4E6B"/>
                </a:solidFill>
                <a:latin typeface="Arial"/>
              </a:rPr>
              <a:t>Assumptions and limitations</a:t>
            </a:r>
          </a:p>
          <a:p>
            <a:pPr>
              <a:spcAft>
                <a:spcPts val="5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Dataset.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NEU-DET is 1,800 grayscale 200x200 hot-rolled carbon-steel images under one lighting rig. Nothing here is measured on stainless, your cameras, or your illumination -- a capability demonstration, not a prediction.</a:t>
            </a:r>
          </a:p>
          <a:p>
            <a:pPr>
              <a:spcAft>
                <a:spcPts val="5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Domain shift.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Confirmed and partly fixed. Cross-domain AUC was 0.608 (chance); joint training fixed it to 0.958 (slide 3) but ships alongside the default -- severity tiers for the four new classes remain unset.</a:t>
            </a:r>
          </a:p>
          <a:p>
            <a:pPr>
              <a:spcAft>
                <a:spcPts val="5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False alarms.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Three different measurements, not one. The NEU-DET clean-crop proxy (&lt;=23.7%) is a ceiling: effective n 179 of 771, a 5.8%-48.8% mixture by class. The legacy definition reads 59.4%. Slide 3 real clean-steel numbers are the ones to trust.</a:t>
            </a:r>
          </a:p>
          <a:p>
            <a:pPr>
              <a:spcAft>
                <a:spcPts val="5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GC10 thin classes.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Roll marks (rolled_pit, crease) score mean AP50 0.203 on 24 test instances -- one flip moves recall 8-9 points, and 4 of 11 live rolled_pit images produce zero detections. The edge family (AP50 0.880, 61 instances) is a strong proxy for edge geometry, not cracks.</a:t>
            </a:r>
          </a:p>
          <a:p>
            <a:pPr>
              <a:spcAft>
                <a:spcPts val="5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Cost model.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Defect prevalence (5% of frames) and the miss-to-false-alarm price (12:1) are assumptions, not measurements, and only their combination is identifiable. conf 0.15 is set by the 90% detection floor, not by the economics.</a:t>
            </a:r>
          </a:p>
          <a:p>
            <a:pPr>
              <a:spcAft>
                <a:spcPts val="5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Timing.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No absolute latency on this host is reproducible between sessions. Every speed statement here is a band or a ratio.</a:t>
            </a:r>
          </a:p>
          <a:p>
            <a:pPr>
              <a:spcAft>
                <a:spcPts val="5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Not measured.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Training-seed variance. Three seeds per architecture is about 6.5 h on this machine and would upgrade the nano-versus-small claim from 'these weights' to 'this architecture'.</a:t>
            </a:r>
          </a:p>
          <a:p>
            <a:pPr>
              <a:spcAft>
                <a:spcPts val="5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Mill geometry.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Line speed, strip width and pixel pitch are a sourced proxy (Ternium at 300 m/min; ISRA at 170 um/px), not Jindal's own figures.</a:t>
            </a:r>
          </a:p>
          <a:p>
            <a:pPr>
              <a:spcAft>
                <a:spcPts val="5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Magnification.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The accuracy curve was measured on 200x200 crops; a 320 px tile at 0.2 mm/px covers 64 mm of strip, and transfer across that scale change is unmeasured. Phase 0 measures it.</a:t>
            </a:r>
          </a:p>
          <a:p>
            <a:pPr>
              <a:spcAft>
                <a:spcPts val="5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Not built.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The unsupervised anomaly channel and closed loop (slide 2) are proposed, not built. Severity tiers for the joint model's four Severstal classes are also unset -- none is invented.</a:t>
            </a:r>
          </a:p>
          <a:p>
            <a:pPr>
              <a:spcAft>
                <a:spcPts val="500"/>
              </a:spcAft>
            </a:pPr>
            <a:r>
              <a:rPr sz="869" b="1" i="0">
                <a:solidFill>
                  <a:srgbClr val="1F4E6B"/>
                </a:solidFill>
                <a:latin typeface="Arial"/>
              </a:rPr>
              <a:t>Money.  </a:t>
            </a:r>
            <a:r>
              <a:rPr sz="869" b="0" i="0">
                <a:solidFill>
                  <a:srgbClr val="33414F"/>
                </a:solidFill>
                <a:latin typeface="Arial"/>
              </a:rPr>
              <a:t>Every rupee figure on slide 5 is arithmetic on a swept assumption, with the inputs printed beside it. Read it as a shape, not as a forecast.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0" i="0">
                <a:solidFill>
                  <a:srgbClr val="6B7885"/>
                </a:solidFill>
                <a:latin typeface="Arial"/>
              </a:rPr>
              <a:t>Sources: reports/model_study.json (bootstrap, runs, limitations) - reports/gap1_cross_domain_fix.md - reports/calibration.md - reports/ood_guard.md - reports/gc10_coverage.md - reports/false_alarm.json - reports/operating_point.json - docs/research_notes.md s1c, s2a, s6a-6b.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48640"/>
            <a:ext cx="10454335" cy="420624"/>
          </a:xfrm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 i="0">
                <a:solidFill>
                  <a:srgbClr val="141C24"/>
                </a:solidFill>
                <a:latin typeface="Arial"/>
              </a:rPr>
              <a:t>What it changes, what it is worth, and how it scales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1F4E6B"/>
                </a:solidFill>
                <a:latin typeface="Arial"/>
              </a:rPr>
              <a:t>EXPECTED IMPACT AND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966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6B7885"/>
                </a:solidFill>
                <a:latin typeface="Arial"/>
              </a:rPr>
              <a:t>A phased plan whose first phase exists to measure the things this deck could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1185855" cy="12700"/>
          </a:xfrm>
          <a:prstGeom prst="rect">
            <a:avLst/>
          </a:prstGeom>
          <a:solidFill>
            <a:srgbClr val="D6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8695" y="32918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C7CFD6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fig6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85855" cy="20007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474720"/>
            <a:ext cx="351525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F4E6B"/>
                </a:solidFill>
                <a:latin typeface="Arial"/>
              </a:rPr>
              <a:t>Expected impact</a:t>
            </a:r>
          </a:p>
          <a:p>
            <a:pPr>
              <a:spcAft>
                <a:spcPts val="450"/>
              </a:spcAft>
            </a:pPr>
            <a:r>
              <a:rPr sz="840" b="1" i="0">
                <a:solidFill>
                  <a:srgbClr val="1F4E6B"/>
                </a:solidFill>
                <a:latin typeface="Arial"/>
              </a:rPr>
              <a:t>Technical.  </a:t>
            </a:r>
            <a:r>
              <a:rPr sz="840" b="0" i="0">
                <a:solidFill>
                  <a:srgbClr val="33414F"/>
                </a:solidFill>
                <a:latin typeface="Arial"/>
              </a:rPr>
              <a:t>A 6.22 MB, 3.0 M parameter detector with a verified ONNX and CoreML export (max absolute deviation 7.1e-04, identical detections). ONNX Runtime is 1.66-1.76x faster than PyTorch on the same CPU. At 250 m/min one accelerator serves 15 camera streams downscaled, or a fraction of one stream at full optical resolution -- so the design question is tiling versus resolution.</a:t>
            </a:r>
          </a:p>
          <a:p>
            <a:pPr>
              <a:spcAft>
                <a:spcPts val="450"/>
              </a:spcAft>
            </a:pPr>
            <a:r>
              <a:rPr sz="840" b="1" i="0">
                <a:solidFill>
                  <a:srgbClr val="1F4E6B"/>
                </a:solidFill>
                <a:latin typeface="Arial"/>
              </a:rPr>
              <a:t>Operational.  </a:t>
            </a:r>
            <a:r>
              <a:rPr sz="840" b="0" i="0">
                <a:solidFill>
                  <a:srgbClr val="33414F"/>
                </a:solidFill>
                <a:latin typeface="Arial"/>
              </a:rPr>
              <a:t>Every square millimetre inspected instead of sampled, with a coil-level HOLD or RELEASE and a p95 severity, and the defect class routed to the owner who can actually fix it. Inspectors move from looking to adjudicating.</a:t>
            </a:r>
          </a:p>
          <a:p>
            <a:pPr>
              <a:spcAft>
                <a:spcPts val="450"/>
              </a:spcAft>
            </a:pPr>
            <a:r>
              <a:rPr sz="840" b="1" i="0">
                <a:solidFill>
                  <a:srgbClr val="1F4E6B"/>
                </a:solidFill>
                <a:latin typeface="Arial"/>
              </a:rPr>
              <a:t>Sustainability.  </a:t>
            </a:r>
            <a:r>
              <a:rPr sz="840" b="0" i="0">
                <a:solidFill>
                  <a:srgbClr val="33414F"/>
                </a:solidFill>
                <a:latin typeface="Arial"/>
              </a:rPr>
              <a:t>Yield recovered is melting, rolling, annealing and nickel not spent twice. We deliberately do not put a tonne-of-CO2 figure on this slide: it needs Jindal's own specific energy per tonne, which is not public.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8218" y="3474720"/>
            <a:ext cx="35152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F4E6B"/>
                </a:solidFill>
                <a:latin typeface="Arial"/>
              </a:rPr>
              <a:t>Commercial, illustrative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3749039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 b="0" i="0">
                <a:solidFill>
                  <a:srgbClr val="6B7885"/>
                </a:solidFill>
                <a:latin typeface="Arial"/>
              </a:rPr>
              <a:t>Value at risk from surface-driven downgrade, INR crore/year. Columns are the prime-to-secondary discount. Volume 2,565,902 t and realisation INR 167,407/t are Jindal FY26 reported figures; the other two inputs are swept, not known.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4393692"/>
            <a:ext cx="3515258" cy="9525"/>
          </a:xfrm>
          <a:prstGeom prst="rect">
            <a:avLst/>
          </a:prstGeom>
          <a:solidFill>
            <a:srgbClr val="D6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8218" y="4224527"/>
            <a:ext cx="1406103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40" b="1" i="0">
                <a:solidFill>
                  <a:srgbClr val="6B7885"/>
                </a:solidFill>
                <a:latin typeface="Arial"/>
              </a:rPr>
              <a:t>Downgrade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4321" y="4224527"/>
            <a:ext cx="7030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" b="1" i="0">
                <a:solidFill>
                  <a:srgbClr val="6B7885"/>
                </a:solidFill>
                <a:latin typeface="Arial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7373" y="4224527"/>
            <a:ext cx="7030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" b="1" i="0">
                <a:solidFill>
                  <a:srgbClr val="6B7885"/>
                </a:solidFill>
                <a:latin typeface="Arial"/>
              </a:rP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425" y="4224527"/>
            <a:ext cx="7030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40" b="1" i="0">
                <a:solidFill>
                  <a:srgbClr val="6B7885"/>
                </a:solidFill>
                <a:latin typeface="Arial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8218" y="4439412"/>
            <a:ext cx="1406103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>
                <a:solidFill>
                  <a:srgbClr val="33414F"/>
                </a:solidFill>
                <a:latin typeface="Arial"/>
              </a:rPr>
              <a:t>0.5% of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4321" y="4439412"/>
            <a:ext cx="7030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33414F"/>
                </a:solidFill>
                <a:latin typeface="Arial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7373" y="4439412"/>
            <a:ext cx="7030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33414F"/>
                </a:solidFill>
                <a:latin typeface="Arial"/>
              </a:rPr>
              <a:t>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425" y="4439412"/>
            <a:ext cx="7030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33414F"/>
                </a:solidFill>
                <a:latin typeface="Arial"/>
              </a:rPr>
              <a:t>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8218" y="4654295"/>
            <a:ext cx="1406103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>
                <a:solidFill>
                  <a:srgbClr val="33414F"/>
                </a:solidFill>
                <a:latin typeface="Arial"/>
              </a:rPr>
              <a:t>1.0% of 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44321" y="4654295"/>
            <a:ext cx="7030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B4551F"/>
                </a:solidFill>
                <a:latin typeface="Arial"/>
              </a:rPr>
              <a:t>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7373" y="4654295"/>
            <a:ext cx="7030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33414F"/>
                </a:solidFill>
                <a:latin typeface="Arial"/>
              </a:rPr>
              <a:t>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425" y="4654295"/>
            <a:ext cx="7030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33414F"/>
                </a:solidFill>
                <a:latin typeface="Arial"/>
              </a:rPr>
              <a:t>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8218" y="4869179"/>
            <a:ext cx="1406103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0">
                <a:solidFill>
                  <a:srgbClr val="33414F"/>
                </a:solidFill>
                <a:latin typeface="Arial"/>
              </a:rPr>
              <a:t>2.0% of 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4321" y="4869179"/>
            <a:ext cx="7030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33414F"/>
                </a:solidFill>
                <a:latin typeface="Arial"/>
              </a:rPr>
              <a:t>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7373" y="4869179"/>
            <a:ext cx="7030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33414F"/>
                </a:solidFill>
                <a:latin typeface="Arial"/>
              </a:rPr>
              <a:t>129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425" y="4869179"/>
            <a:ext cx="703051" cy="187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33414F"/>
                </a:solidFill>
                <a:latin typeface="Arial"/>
              </a:rPr>
              <a:t>172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8218" y="5138927"/>
            <a:ext cx="3515258" cy="1243584"/>
          </a:xfrm>
          <a:prstGeom prst="roundRect">
            <a:avLst>
              <a:gd name="adj" fmla="val 3000"/>
            </a:avLst>
          </a:prstGeom>
          <a:solidFill>
            <a:srgbClr val="F3F5F7"/>
          </a:solidFill>
          <a:ln w="9525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7090" y="5239512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860" b="1" i="0">
                <a:solidFill>
                  <a:srgbClr val="B4551F"/>
                </a:solidFill>
                <a:latin typeface="Arial"/>
              </a:rPr>
              <a:t>Worked mid case.  </a:t>
            </a:r>
            <a:r>
              <a:rPr sz="860" b="0" i="0">
                <a:solidFill>
                  <a:srgbClr val="33414F"/>
                </a:solidFill>
                <a:latin typeface="Arial"/>
              </a:rPr>
              <a:t>1.0% of volume downgraded at a 10% discount is INR 43 cr/yr at risk. Recovering 30% of it is INR 13 cr/yr, against roughly INR 21 cr for one line's system (USD 2.4M at INR 88/USD, an unsourced order of magnitude). Payback about 1.6 years.</a:t>
            </a:r>
          </a:p>
          <a:p>
            <a:r>
              <a:rPr sz="860" b="1" i="0">
                <a:solidFill>
                  <a:srgbClr val="1F4E6B"/>
                </a:solidFill>
                <a:latin typeface="Arial"/>
              </a:rPr>
              <a:t>The ask.  </a:t>
            </a:r>
            <a:r>
              <a:rPr sz="860" b="0" i="0">
                <a:solidFill>
                  <a:srgbClr val="33414F"/>
                </a:solidFill>
                <a:latin typeface="Arial"/>
              </a:rPr>
              <a:t>The downgrade rate is not public. It is the one input we need from Jindal's MIS; everything else here is reported or swept.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3516" y="3474720"/>
            <a:ext cx="351525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F4E6B"/>
                </a:solidFill>
                <a:latin typeface="Arial"/>
              </a:rPr>
              <a:t>Scaling across grades and products</a:t>
            </a:r>
          </a:p>
          <a:p>
            <a:pPr>
              <a:spcAft>
                <a:spcPts val="400"/>
              </a:spcAft>
            </a:pPr>
            <a:r>
              <a:rPr sz="840" b="1" i="0">
                <a:solidFill>
                  <a:srgbClr val="1F4E6B"/>
                </a:solidFill>
                <a:latin typeface="Arial"/>
              </a:rPr>
              <a:t>Transfers unchanged:  </a:t>
            </a:r>
            <a:r>
              <a:rPr sz="840" b="0" i="0">
                <a:solidFill>
                  <a:srgbClr val="33414F"/>
                </a:solidFill>
                <a:latin typeface="Arial"/>
              </a:rPr>
              <a:t>the tiling and serving architecture, the severity and MES plumbing, and the training recipe -- not the backbone: shipped cross-domain AUC was 0.608 (chance) until joint training fixed it to 0.958.</a:t>
            </a:r>
          </a:p>
          <a:p>
            <a:pPr>
              <a:spcAft>
                <a:spcPts val="400"/>
              </a:spcAft>
            </a:pPr>
            <a:r>
              <a:rPr sz="840" b="1" i="0">
                <a:solidFill>
                  <a:srgbClr val="1F4E6B"/>
                </a:solidFill>
                <a:latin typeface="Arial"/>
              </a:rPr>
              <a:t>Needs re-labelling:  </a:t>
            </a:r>
            <a:r>
              <a:rPr sz="840" b="0" i="0">
                <a:solidFill>
                  <a:srgbClr val="33414F"/>
                </a:solidFill>
                <a:latin typeface="Arial"/>
              </a:rPr>
              <a:t>each new grade, surface finish and illumination, plus any defect the taxonomy does not yet name.</a:t>
            </a:r>
          </a:p>
          <a:p>
            <a:pPr>
              <a:spcAft>
                <a:spcPts val="400"/>
              </a:spcAft>
            </a:pPr>
            <a:r>
              <a:rPr sz="840" b="1" i="0">
                <a:solidFill>
                  <a:srgbClr val="1F4E6B"/>
                </a:solidFill>
                <a:latin typeface="Arial"/>
              </a:rPr>
              <a:t>Active learning:  </a:t>
            </a:r>
            <a:r>
              <a:rPr sz="840" b="0" i="0">
                <a:solidFill>
                  <a:srgbClr val="33414F"/>
                </a:solidFill>
                <a:latin typeface="Arial"/>
              </a:rPr>
              <a:t>label only frames the model is unsure about or the operator overrode, not a uniform sample. Proposed practice; no NEU-DET-specific study exists to cite.</a:t>
            </a:r>
          </a:p>
          <a:p>
            <a:pPr>
              <a:spcAft>
                <a:spcPts val="400"/>
              </a:spcAft>
            </a:pPr>
            <a:r>
              <a:rPr sz="840" b="1" i="0">
                <a:solidFill>
                  <a:srgbClr val="1F4E6B"/>
                </a:solidFill>
                <a:latin typeface="Arial"/>
              </a:rPr>
              <a:t>Unseen defects:  </a:t>
            </a:r>
            <a:r>
              <a:rPr sz="840" b="0" i="0">
                <a:solidFill>
                  <a:srgbClr val="33414F"/>
                </a:solidFill>
                <a:latin typeface="Arial"/>
              </a:rPr>
              <a:t>an unsupervised anomaly channel in parallel with the detector, feeding the unclassified bucket that real installations already run.</a:t>
            </a:r>
          </a:p>
          <a:p>
            <a:pPr>
              <a:spcAft>
                <a:spcPts val="400"/>
              </a:spcAft>
            </a:pPr>
            <a:r>
              <a:rPr sz="840" b="1" i="0">
                <a:solidFill>
                  <a:srgbClr val="1F4E6B"/>
                </a:solidFill>
                <a:latin typeface="Arial"/>
              </a:rPr>
              <a:t>Labelling cost:  </a:t>
            </a:r>
            <a:r>
              <a:rPr sz="840" b="0" i="0">
                <a:solidFill>
                  <a:srgbClr val="33414F"/>
                </a:solidFill>
                <a:latin typeface="Arial"/>
              </a:rPr>
              <a:t>self-supervised pretraining on the mill's own unlabelled imagery: published SimSiam reached 0.768 mAP50 against 0.773 for ImageNet and 0.280 from random init -- ImageNet-level, with no labels.</a:t>
            </a:r>
          </a:p>
          <a:p>
            <a:pPr>
              <a:spcAft>
                <a:spcPts val="400"/>
              </a:spcAft>
            </a:pPr>
            <a:r>
              <a:rPr sz="840" b="1" i="0">
                <a:solidFill>
                  <a:srgbClr val="1F4E6B"/>
                </a:solidFill>
                <a:latin typeface="Arial"/>
              </a:rPr>
              <a:t>Monitoring:  </a:t>
            </a:r>
            <a:r>
              <a:rPr sz="840" b="0" i="0">
                <a:solidFill>
                  <a:srgbClr val="33414F"/>
                </a:solidFill>
                <a:latin typeface="Arial"/>
              </a:rPr>
              <a:t>alarm rate per class, score drift and operator override rate; override rate doubles as the ground-truth trickle that triggers a retrain.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0" i="0">
                <a:solidFill>
                  <a:srgbClr val="6B7885"/>
                </a:solidFill>
                <a:latin typeface="Arial"/>
              </a:rPr>
              <a:t>Sources: reports/export_summary.json - reports/export_summary_320.json - reports/benchmark.json - reports/gap1_cross_domain_fix.md (cross-domain AUC, backbone transfer) - models/yolov8n_neudet/results.csv - docs/research_notes.md s3a (Jindal FY26 reported [HARD]), s4c (ROI sweep, [DERIVED], inputs on slide), s6b (self-supervised result [HARD]). The USD 2.4M system cost is [SUSPECT] -- order of magnitude only, no attributable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